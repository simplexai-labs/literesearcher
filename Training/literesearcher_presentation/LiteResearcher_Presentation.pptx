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194560"/>
            <a:ext cx="73152" cy="18288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AGENTIC RL · DEEP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1F1F1F"/>
                </a:solidFill>
                <a:latin typeface="Georgia"/>
              </a:rPr>
              <a:t>LiteResearcher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1">
                <a:solidFill>
                  <a:srgbClr val="6B6356"/>
                </a:solidFill>
                <a:latin typeface="Georgia"/>
              </a:rPr>
              <a:t>A Scalable Agentic RL Training Framework
for Deep Research Agents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5669280"/>
            <a:ext cx="11064240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806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arXiv:2604.17931  ·  github.com/simplex-ai-inc/LiteResearcher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A8070"/>
                </a:solidFill>
                <a:latin typeface="Calibri"/>
              </a:rPr>
              <a:t>Zhejiang University  ·  Simplex AI  ·  HKPU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1264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PAPER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Authors, links &amp; one-line summary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288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AUTHORS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Wanli Li¹², Bince Qu¹², Bo Pan¹, Jianyu Zhang¹,
Zheng Liu³, Pan Zhang², Wei Chen¹, Bo Zhang¹²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356"/>
                </a:solidFill>
                <a:latin typeface="Calibri"/>
              </a:rPr>
              <a:t>¹ Zhejiang University    ² Simplex AI    ³ The Hong Kong Polytechnic University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1" i="0">
                <a:solidFill>
                  <a:srgbClr val="1F1F1F"/>
                </a:solidFill>
                <a:latin typeface="Calibri"/>
              </a:rPr>
              <a:t>Paper  ·  arXiv:2604.17931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6B6356"/>
                </a:solidFill>
                <a:latin typeface="Calibri"/>
              </a:rPr>
              <a:t>Code   ·  github.com/simplex-ai-inc/LiteResearcher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6B6356"/>
                </a:solidFill>
                <a:latin typeface="Calibri"/>
              </a:rPr>
              <a:t>Weights  ·  huggingface.co/simplex-ai-inc/LiteResearcher-4B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100" b="0" i="1">
                <a:solidFill>
                  <a:srgbClr val="8A8070"/>
                </a:solidFill>
                <a:latin typeface="Calibri"/>
              </a:rPr>
              <a:t>Venue  ·  Preprint, under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11109960" cy="173736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E9DE"/>
                </a:solidFill>
                <a:latin typeface="Calibri"/>
              </a:rPr>
              <a:t>TL;DR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5488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FFFFFF"/>
                </a:solidFill>
                <a:latin typeface="Georgia"/>
              </a:rPr>
              <a:t>A virtual world that mirrors live web search but isolates its noise lets a tiny 4B model
match or beat 8× larger open-source and commercial agents on deep-research benchmarks.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2  / 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What we will cover today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92024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97757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66544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F1F"/>
                </a:solidFill>
                <a:latin typeface="Calibri"/>
              </a:rPr>
              <a:t>Problem &amp; prior approaches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356"/>
                </a:solidFill>
                <a:latin typeface="Calibri"/>
              </a:rPr>
              <a:t>Why scaling Agentic RL for deep research is hard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8483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97757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066544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F1F"/>
                </a:solidFill>
                <a:latin typeface="Calibri"/>
              </a:rPr>
              <a:t>Method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39572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356"/>
                </a:solidFill>
                <a:latin typeface="Calibri"/>
              </a:rPr>
              <a:t>The 3-pillar LiteResearcher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08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9067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97757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072384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F1F"/>
                </a:solidFill>
                <a:latin typeface="Calibri"/>
              </a:rPr>
              <a:t>Pillar 1 · Data × Corpus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0156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356"/>
                </a:solidFill>
                <a:latin typeface="Calibri"/>
              </a:rPr>
              <a:t>Co-construct synthetic data and local corpus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9067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97757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072384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F1F"/>
                </a:solidFill>
                <a:latin typeface="Calibri"/>
              </a:rPr>
              <a:t>Pillar 2 · Local tool 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0156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356"/>
                </a:solidFill>
                <a:latin typeface="Calibri"/>
              </a:rPr>
              <a:t>32M-page virtual web at &lt;0.2 s latency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9651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97757"/>
                </a:solidFill>
                <a:latin typeface="Georgi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78224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F1F"/>
                </a:solidFill>
                <a:latin typeface="Calibri"/>
              </a:rPr>
              <a:t>Pillar 3 · Curriculum 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40740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356"/>
                </a:solidFill>
                <a:latin typeface="Calibri"/>
              </a:rPr>
              <a:t>On-policy GRPO + difficulty filtering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93192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09651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97757"/>
                </a:solidFill>
                <a:latin typeface="Georgia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078224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F1F"/>
                </a:solidFill>
                <a:latin typeface="Calibri"/>
              </a:rPr>
              <a:t>Main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40740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356"/>
                </a:solidFill>
                <a:latin typeface="Calibri"/>
              </a:rPr>
              <a:t>GAIA, Xbench, BrowseComp, HLE, 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3776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10235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97757"/>
                </a:solidFill>
                <a:latin typeface="Georgia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084064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F1F"/>
                </a:solidFill>
                <a:latin typeface="Calibri"/>
              </a:rPr>
              <a:t>Ablations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41324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356"/>
                </a:solidFill>
                <a:latin typeface="Calibri"/>
              </a:rPr>
              <a:t>Cost, data, on/off-policy, two-stage, RL vs SFT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93776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10235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97757"/>
                </a:solidFill>
                <a:latin typeface="Georgia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5084064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F1F"/>
                </a:solidFill>
                <a:latin typeface="Calibri"/>
              </a:rPr>
              <a:t>Behavior analysis · appendix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41324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356"/>
                </a:solidFill>
                <a:latin typeface="Calibri"/>
              </a:rPr>
              <a:t>Four mechanisms behind the Sim2Real gain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3  / 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Why scaling Agentic RL for Deep Research is hard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74519"/>
            <a:ext cx="11109960" cy="146304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D97757"/>
                </a:solidFill>
                <a:latin typeface="Georg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14884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1F1F1F"/>
                </a:solidFill>
                <a:latin typeface="Georgia"/>
              </a:rPr>
              <a:t>RL has delivered sustained gains for closed-world reasoners; Agentic RL for deep research has not. Why?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5372100" cy="246888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A · DATA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1F1F"/>
                </a:solidFill>
                <a:latin typeface="Georgia"/>
              </a:rPr>
              <a:t>Hand-crafted synthetic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Over-engineered task templates that do not elicit
the diverse atomic search skills used in the real world
— cross-verification, enumeration, statistics,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6500" y="3611880"/>
            <a:ext cx="5372100" cy="246888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0820" y="3840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B · ENVIRONMENT BOTTLENECK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0820" y="41605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1F1F"/>
                </a:solidFill>
                <a:latin typeface="Georgia"/>
              </a:rPr>
              <a:t>Real-web RL dependency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0820" y="475488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Live-internet rollouts inject high variance and prohibitive
cost into RL training, capping the number of stable
updates and the scale of training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4  / 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01 · PRIOR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Three families, three trade-offs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920240"/>
            <a:ext cx="3703320" cy="429768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7757"/>
                </a:solidFill>
                <a:latin typeface="Calibri"/>
              </a:rPr>
              <a:t>WEBTHINKER · KIMI-RESEARCHER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1F1F"/>
                </a:solidFill>
                <a:latin typeface="Georgia"/>
              </a:rPr>
              <a:t>Online 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356"/>
                </a:solidFill>
                <a:latin typeface="Calibri"/>
              </a:rPr>
              <a:t>Live internet  ·  high realism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3611880"/>
            <a:ext cx="3154680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37033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B8C5A"/>
                </a:solidFill>
                <a:latin typeface="Calibri"/>
              </a:rPr>
              <a:t>STRENGTHS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1F1F"/>
                </a:solidFill>
                <a:latin typeface="Calibri"/>
              </a:rPr>
              <a:t>+ Realistic interactions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15967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1F1F"/>
                </a:solidFill>
                <a:latin typeface="Calibri"/>
              </a:rPr>
              <a:t>+ Unbounded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3717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5F44"/>
                </a:solidFill>
                <a:latin typeface="Calibri"/>
              </a:rP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5721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−  Non-deterministic 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9823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−  Cost grows with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4243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−  Variance bottlenecks scale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4820" y="1920240"/>
            <a:ext cx="3703320" cy="429768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9140" y="214884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7757"/>
                </a:solidFill>
                <a:latin typeface="Calibri"/>
              </a:rPr>
              <a:t>SEARCH-R1 · SEARCH-O1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9140" y="246888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1F1F"/>
                </a:solidFill>
                <a:latin typeface="Georgia"/>
              </a:rPr>
              <a:t>Local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9140" y="30175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356"/>
                </a:solidFill>
                <a:latin typeface="Calibri"/>
              </a:rPr>
              <a:t>Wikipedia-scale corpus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49140" y="3611880"/>
            <a:ext cx="3154680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49140" y="37033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B8C5A"/>
                </a:solidFill>
                <a:latin typeface="Calibri"/>
              </a:rPr>
              <a:t>STRENGTHS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9140" y="40233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1F1F"/>
                </a:solidFill>
                <a:latin typeface="Calibri"/>
              </a:rPr>
              <a:t>+ Cheap, fast, deterministic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9140" y="4544567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5F44"/>
                </a:solidFill>
                <a:latin typeface="Calibri"/>
              </a:rPr>
              <a:t>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9140" y="4864607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−  Narrow, homogeneous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9140" y="515721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−  Misses real-web dynamics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9140" y="5449823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−  Caps the search-skill ceiling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1920240"/>
            <a:ext cx="3703320" cy="429768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214884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7757"/>
                </a:solidFill>
                <a:latin typeface="Calibri"/>
              </a:rPr>
              <a:t>ZEROSEARCH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46888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1F1F"/>
                </a:solidFill>
                <a:latin typeface="Georgia"/>
              </a:rPr>
              <a:t>Simulated 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0175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356"/>
                </a:solidFill>
                <a:latin typeface="Calibri"/>
              </a:rPr>
              <a:t>LLM-mimicked search engine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75320" y="3611880"/>
            <a:ext cx="3154680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75320" y="37033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B8C5A"/>
                </a:solidFill>
                <a:latin typeface="Calibri"/>
              </a:rPr>
              <a:t>STRENGTHS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0233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1F1F"/>
                </a:solidFill>
                <a:latin typeface="Calibri"/>
              </a:rPr>
              <a:t>+ Fully controllable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544567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5F44"/>
                </a:solidFill>
                <a:latin typeface="Calibri"/>
              </a:rPr>
              <a:t>LIMITATIONS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864607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−  No page-level fidelity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15721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−  Hallucinated documents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5449823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−  Limited transfer to real web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5  / 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01 ·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Mirror the web, isolate the noise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0116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OUR ARGUMENT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67665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F1F1F"/>
                </a:solidFill>
                <a:latin typeface="Georgia"/>
              </a:rPr>
              <a:t>Scaling Agentic RL for Deep Research requires a twin architecture: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97757"/>
                </a:solidFill>
                <a:latin typeface="Georgia"/>
              </a:rPr>
              <a:t>Mirroring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374136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Local environment behaves like the live web — same page-level fidelity, same retrieval distributions, same browse dynamics.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97757"/>
                </a:solidFill>
                <a:latin typeface="Georgia"/>
              </a:rPr>
              <a:t>Isolation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517136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Training is decoupled from the real internet — no rate limits, no API cost, no non-deterministic reward, no rollout variance.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011680"/>
            <a:ext cx="3977639" cy="411480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194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E9DE"/>
                </a:solidFill>
                <a:latin typeface="Calibri"/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5146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Georgia"/>
              </a:rPr>
              <a:t>LiteResearcher-4B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154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FFE9DE"/>
                </a:solidFill>
                <a:latin typeface="Calibri"/>
              </a:rPr>
              <a:t>A 4B model that scales like a 30B+ one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55279" y="3657600"/>
            <a:ext cx="3474720" cy="0"/>
          </a:xfrm>
          <a:prstGeom prst="line">
            <a:avLst/>
          </a:prstGeom>
          <a:ln w="9525">
            <a:solidFill>
              <a:srgbClr val="FFC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55279" y="38404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71.3%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4005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E9DE"/>
                </a:solidFill>
                <a:latin typeface="Calibri"/>
              </a:rPr>
              <a:t>GAIA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49884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78.0%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4663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E9DE"/>
                </a:solidFill>
                <a:latin typeface="Calibri"/>
              </a:rPr>
              <a:t>Xbench-DS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157216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83.1%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532180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E9DE"/>
                </a:solidFill>
                <a:latin typeface="Calibri"/>
              </a:rPr>
              <a:t>Frames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6  / 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02 · METHOD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Three pillars of the LiteResearcher pipeline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dia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1110996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7  / 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03 · PILLAR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Co-construct training data and local corpus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659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WHY CO-CONSTRUCTION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F1F1F"/>
                </a:solidFill>
                <a:latin typeface="Georgia"/>
              </a:rPr>
              <a:t>Tasks and corpus evolve together so that every synthetic query is
answerable by browsing the local environment — no shortcut, no leak.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6587" y="3931920"/>
            <a:ext cx="2651760" cy="1874519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187" y="4160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STEP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187" y="4526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1F1F"/>
                </a:solidFill>
                <a:latin typeface="Georgia"/>
              </a:rPr>
              <a:t>Seed Corpus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87" y="498348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Wikipedia + BBC News
→ structured QA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5507" y="3931920"/>
            <a:ext cx="2651760" cy="1874519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4107" y="4160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4107" y="4526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1F1F"/>
                </a:solidFill>
                <a:latin typeface="Georgia"/>
              </a:rPr>
              <a:t>Source Masking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4107" y="498348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Delete the source page
so the answer is non-trivial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3931920"/>
            <a:ext cx="2651760" cy="1874519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3027" y="4160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4526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1F1F"/>
                </a:solidFill>
                <a:latin typeface="Georgia"/>
              </a:rPr>
              <a:t>Rubric Filtering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498348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7-criteria LLM filter
(independence, verifiability, ...)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347" y="3931920"/>
            <a:ext cx="2651760" cy="1874519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1947" y="4160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STEP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1947" y="4526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1F1F"/>
                </a:solidFill>
                <a:latin typeface="Georgia"/>
              </a:rPr>
              <a:t>Corpus Expansion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1947" y="498348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Fetch related web pages
→ enrich the local 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8  / 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03 · PILLAR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Five atomic search capabilities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356"/>
                </a:solidFill>
                <a:latin typeface="Calibri"/>
              </a:rPr>
              <a:t>The taxonomy of skills our data must elicit</a:t>
            </a:r>
          </a:p>
        </p:txBody>
      </p:sp>
      <p:pic>
        <p:nvPicPr>
          <p:cNvPr id="7" name="Picture 6" descr="diag_atomic_c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0"/>
            <a:ext cx="11430000" cy="53299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9  / 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04 · PILLAR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Stable local tool environment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20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THE VIRTUAL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F1F1F"/>
                </a:solidFill>
                <a:latin typeface="Georgia"/>
              </a:rPr>
              <a:t>32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356"/>
                </a:solidFill>
                <a:latin typeface="Calibri"/>
              </a:rPr>
              <a:t>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3317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F1F1F"/>
                </a:solidFill>
                <a:latin typeface="Georgia"/>
              </a:rPr>
              <a:t>1 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2004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356"/>
                </a:solidFill>
                <a:latin typeface="Calibri"/>
              </a:rPr>
              <a:t>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3317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F1F1F"/>
                </a:solidFill>
                <a:latin typeface="Georgia"/>
              </a:rPr>
              <a:t>73.2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2004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356"/>
                </a:solidFill>
                <a:latin typeface="Calibri"/>
              </a:rPr>
              <a:t>tool calls
over full RL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5440680" cy="192024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INDEX · 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1F1F"/>
                </a:solidFill>
                <a:latin typeface="Georgia"/>
              </a:rPr>
              <a:t>Local Search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4892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B6356"/>
                </a:solidFill>
                <a:latin typeface="Calibri"/>
              </a:rPr>
              <a:t>BGE-M3 hybrid dense + sparse
Milvus index · DiskANN on disk
~0.15 s / query  (≈ 10× faster than online)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60520"/>
            <a:ext cx="5440680" cy="192024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4340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STORE · 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0916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1F1F"/>
                </a:solidFill>
                <a:latin typeface="Georgia"/>
              </a:rPr>
              <a:t>Local Browse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57800"/>
            <a:ext cx="4892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B6356"/>
                </a:solidFill>
                <a:latin typeface="Calibri"/>
              </a:rPr>
              <a:t>Full Markdown content in PostgreSQL
Keyed by URL · tuned for 1,000 concurrent conn.
~0.17 s / page  (≈ 46× faster than Jina Reader)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10  / 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05 · PILLAR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Difficulty-aware curriculum learning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6596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THE PROBLEM · TRAINING SATURATION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B6356"/>
                </a:solidFill>
                <a:latin typeface="Calibri"/>
              </a:rPr>
              <a:t>When too easy → no gradient. When too hard → no signal.
Single-stage RL plateaus at the model's current difficulty band.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THE FIX · TWO LEVERS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7757"/>
                </a:solidFill>
                <a:latin typeface="Georgia"/>
              </a:rPr>
              <a:t>Difficulty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233672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Before each stage: K=8 rollouts per query, keep only those
with correct-count c ∈ [1, 7]. Discard trivial and impossible.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57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7757"/>
                </a:solidFill>
                <a:latin typeface="Georgia"/>
              </a:rPr>
              <a:t>Multi-stage curriculum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239512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Each stage  →  increase task difficulty + context length
(Stage 1 = 32K  →  Stage 2 = 48K, with harder data mix).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965960"/>
            <a:ext cx="3977639" cy="416052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1488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ON-POLICY GRPO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688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1F1F"/>
                </a:solidFill>
                <a:latin typeface="Georgia"/>
              </a:rPr>
              <a:t>The training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06324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1F1F"/>
                </a:solidFill>
                <a:latin typeface="Consolas"/>
              </a:rPr>
              <a:t>J(θ) = E [ (1/K) Σ min ( rᵢ·Aᵢ 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33756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1F1F"/>
                </a:solidFill>
                <a:latin typeface="Consolas"/>
              </a:rPr>
              <a:t>       clip(rᵢ, 1-ε_lo, 1+ε_hi)·Aᵢ )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79476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onsolas"/>
              </a:rPr>
              <a:t>rᵢ(θ) = π_θ(oᵢ|q) / π_old(oᵢ|q)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09560" y="4434840"/>
            <a:ext cx="3520440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09560" y="452628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· No KL penalty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· No entropy regularizer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· Strictly on-policy: each rollout used once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11  / 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2743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0" b="1" i="0">
                <a:solidFill>
                  <a:srgbClr val="D97757"/>
                </a:solidFill>
                <a:latin typeface="Georgi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24688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880360"/>
            <a:ext cx="7772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1F1F1F"/>
                </a:solidFill>
                <a:latin typeface="Georgia"/>
              </a:rPr>
              <a:t>Main results &amp; ablations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023360"/>
            <a:ext cx="7772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1">
                <a:solidFill>
                  <a:srgbClr val="6B6356"/>
                </a:solidFill>
                <a:latin typeface="Calibri"/>
              </a:rPr>
              <a:t>8 benchmarks · ablations on data, environment,
on/off-policy, multi-stage, SFT-only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5669280"/>
            <a:ext cx="7589520" cy="0"/>
          </a:xfrm>
          <a:prstGeom prst="line">
            <a:avLst/>
          </a:prstGeom>
          <a:ln w="152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12  / 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06 ·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Training recipe at a glance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65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RL TRAINING CONFIGURATION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11109960" cy="45720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Base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542032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F1F"/>
                </a:solidFill>
                <a:latin typeface="Calibri"/>
              </a:rPr>
              <a:t>Qwen3-4B-Thinking-2507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449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Cold-start SFT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044952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F1F"/>
                </a:solidFill>
                <a:latin typeface="Calibri"/>
              </a:rPr>
              <a:t>trajectories distilled from Tongyi DeepResearch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11109960" cy="45720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478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Batch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547872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F1F"/>
                </a:solidFill>
                <a:latin typeface="Calibri"/>
              </a:rPr>
              <a:t>global 128  ·  8 rollouts per query  ·  on-policy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507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Learning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050792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F1F"/>
                </a:solidFill>
                <a:latin typeface="Calibri"/>
              </a:rPr>
              <a:t>1 × 10⁻⁶  (constant)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34840"/>
            <a:ext cx="11109960" cy="45720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53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553712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F1F"/>
                </a:solidFill>
                <a:latin typeface="Calibri"/>
              </a:rPr>
              <a:t>GRPO  ·  no KL  ·  no entropy regularizer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566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Context length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056632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F1F"/>
                </a:solidFill>
                <a:latin typeface="Calibri"/>
              </a:rPr>
              <a:t>Stage 1 = 32 K  →  Stage 2 = 48 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40680"/>
            <a:ext cx="11109960" cy="45720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595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Eval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559552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F1F"/>
                </a:solidFill>
                <a:latin typeface="Calibri"/>
              </a:rPr>
              <a:t>Serper for search  ·  Jina Reader for browse (online APIs)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624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Benchmarks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6062472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F1F"/>
                </a:solidFill>
                <a:latin typeface="Calibri"/>
              </a:rPr>
              <a:t>GAIA · Xbench-DS · BrowseComp · HLE · Frames · WebWalker · Seal-0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13  / 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06 · MAIN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8 benchmarks · 4B model · open-source SOTA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965960"/>
            <a:ext cx="3749039" cy="365760"/>
          </a:xfrm>
          <a:prstGeom prst="roundRect">
            <a:avLst>
              <a:gd name="adj" fmla="val 6000"/>
            </a:avLst>
          </a:prstGeom>
          <a:solidFill>
            <a:srgbClr val="EB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35844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965960"/>
            <a:ext cx="914400" cy="365760"/>
          </a:xfrm>
          <a:prstGeom prst="roundRect">
            <a:avLst>
              <a:gd name="adj" fmla="val 6000"/>
            </a:avLst>
          </a:prstGeom>
          <a:solidFill>
            <a:srgbClr val="EB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20574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79" y="1965960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EB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9" y="2057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GAIA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79" y="1965960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EB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2057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Xbench-DS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965960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EB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2057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Frames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79" y="1965960"/>
            <a:ext cx="1463040" cy="365760"/>
          </a:xfrm>
          <a:prstGeom prst="roundRect">
            <a:avLst>
              <a:gd name="adj" fmla="val 6000"/>
            </a:avLst>
          </a:prstGeom>
          <a:solidFill>
            <a:srgbClr val="EB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79" y="20574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BrowseComp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350008"/>
            <a:ext cx="3749039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441448"/>
            <a:ext cx="35844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Claude-4.5-Sonnet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350008"/>
            <a:ext cx="9144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244144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79" y="2350008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9" y="24414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71.2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79" y="2350008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24414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66.0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2350008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24414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80.7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79" y="2350008"/>
            <a:ext cx="146304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79" y="244144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2825496"/>
            <a:ext cx="35844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OpenAI GPT-5-high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82549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82549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9" y="282549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77.8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82549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79" y="282549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118104"/>
            <a:ext cx="3749039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3209544"/>
            <a:ext cx="35844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GLM-4.6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79" y="3118104"/>
            <a:ext cx="9144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79" y="320954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12079" y="3118104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79" y="32095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71.9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79" y="3118104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79" y="32095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70.0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79" y="3118104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32095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26879" y="3118104"/>
            <a:ext cx="146304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79" y="320954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3593592"/>
            <a:ext cx="35844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DeepSeek-V3.2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97679" y="359359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9" y="35935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79" y="35935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35935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80.2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79" y="35935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3886200"/>
            <a:ext cx="3749039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" y="3977640"/>
            <a:ext cx="35844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Tongyi DeepResearch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97679" y="3886200"/>
            <a:ext cx="9144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7679" y="39776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30B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212079" y="3886200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12079" y="3977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70.9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79" y="3886200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79" y="3977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75.0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955279" y="3886200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55279" y="3977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326879" y="3886200"/>
            <a:ext cx="146304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26879" y="397764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" y="4361688"/>
            <a:ext cx="35844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WebSailor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97679" y="436168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30B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2079" y="43616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53.2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79" y="43616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53.3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79" y="43616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79" y="436168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8640" y="4654296"/>
            <a:ext cx="3749039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2" y="4745736"/>
            <a:ext cx="35844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AgentCPM-Explore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97679" y="4654296"/>
            <a:ext cx="9144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97679" y="474573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4B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212079" y="4654296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12079" y="47457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63.9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583679" y="4654296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83679" y="47457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70.0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55279" y="4654296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955279" y="47457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326879" y="4654296"/>
            <a:ext cx="1463040" cy="3657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326879" y="474573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—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8640" y="5038344"/>
            <a:ext cx="3749039" cy="36576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3232" y="5129784"/>
            <a:ext cx="35844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LiteResearcher (ours)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297679" y="5038344"/>
            <a:ext cx="914400" cy="36576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97679" y="512978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4B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212079" y="5038344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212079" y="512978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71.3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583679" y="5038344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83679" y="512978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78.0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955279" y="5038344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955279" y="512978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83.1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326879" y="5038344"/>
            <a:ext cx="1463040" cy="36576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326879" y="51297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32.5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" y="56052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6356"/>
                </a:solidFill>
                <a:latin typeface="Calibri"/>
              </a:rPr>
              <a:t>All scores in %. LiteResearcher-4B matches or exceeds models 8× its size and most commercial systems.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48640" y="5760720"/>
            <a:ext cx="11109960" cy="594360"/>
          </a:xfrm>
          <a:prstGeom prst="roundRect">
            <a:avLst>
              <a:gd name="adj" fmla="val 6000"/>
            </a:avLst>
          </a:prstGeom>
          <a:solidFill>
            <a:srgbClr val="EB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587959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F1F1F"/>
                </a:solidFill>
                <a:latin typeface="Calibri"/>
              </a:rPr>
              <a:t>4 B beats 30 B  ·  open-source SOTA on GAIA · Xbench · Frames  ·  zero marginal cost during training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14  / 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07 ·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Local vs. live internet — cost &amp; latency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diag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65960"/>
            <a:ext cx="6858000" cy="29365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1965960"/>
            <a:ext cx="3977639" cy="416052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1945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E9DE"/>
                </a:solidFill>
                <a:latin typeface="Calibri"/>
              </a:rPr>
              <a:t>TOTAL TOOL CALLS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542032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73.2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2461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E9DE"/>
                </a:solidFill>
                <a:latin typeface="Calibri"/>
              </a:rPr>
              <a:t>45.8 M search + 27.4 M browse
over the full RL run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09560" y="4023360"/>
            <a:ext cx="3520440" cy="0"/>
          </a:xfrm>
          <a:prstGeom prst="line">
            <a:avLst/>
          </a:prstGeom>
          <a:ln w="9525">
            <a:solidFill>
              <a:srgbClr val="FFC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09560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E9DE"/>
                </a:solidFill>
                <a:latin typeface="Calibri"/>
              </a:rPr>
              <a:t>SPEED-UP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52628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10× faster search
46× faster browse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55321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FFE9DE"/>
                </a:solidFill>
                <a:latin typeface="Calibri"/>
              </a:rPr>
              <a:t>Throughput is what makes
scalable on-policy RL feasible.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15  / 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07 ·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Effect of our synthetic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DOES SCALING INFORMATION SOURCES PAY OFF?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7315200" cy="502920"/>
          </a:xfrm>
          <a:prstGeom prst="roundRect">
            <a:avLst>
              <a:gd name="adj" fmla="val 6000"/>
            </a:avLst>
          </a:prstGeom>
          <a:solidFill>
            <a:srgbClr val="EB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70632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1F1F"/>
                </a:solidFill>
                <a:latin typeface="Calibri"/>
              </a:rPr>
              <a:t>Training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606040"/>
            <a:ext cx="1828800" cy="502920"/>
          </a:xfrm>
          <a:prstGeom prst="roundRect">
            <a:avLst>
              <a:gd name="adj" fmla="val 6000"/>
            </a:avLst>
          </a:prstGeom>
          <a:solidFill>
            <a:srgbClr val="EB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7706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1F1F"/>
                </a:solidFill>
                <a:latin typeface="Calibri"/>
              </a:rPr>
              <a:t>GAIA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2606040"/>
            <a:ext cx="1965960" cy="502920"/>
          </a:xfrm>
          <a:prstGeom prst="roundRect">
            <a:avLst>
              <a:gd name="adj" fmla="val 6000"/>
            </a:avLst>
          </a:prstGeom>
          <a:solidFill>
            <a:srgbClr val="EB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277063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1F1F"/>
                </a:solidFill>
                <a:latin typeface="Calibri"/>
              </a:rPr>
              <a:t>Xbench-DS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54680"/>
            <a:ext cx="7315200" cy="50292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19272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1F1F"/>
                </a:solidFill>
                <a:latin typeface="Calibri"/>
              </a:rPr>
              <a:t>Multi-hop data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154680"/>
            <a:ext cx="1828800" cy="50292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33192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1F1F1F"/>
                </a:solidFill>
                <a:latin typeface="Calibri"/>
              </a:rPr>
              <a:t>58.7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3154680"/>
            <a:ext cx="1965960" cy="50292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331927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1F1F1F"/>
                </a:solidFill>
                <a:latin typeface="Calibri"/>
              </a:rPr>
              <a:t>66.3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03320"/>
            <a:ext cx="7315200" cy="50292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67912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Multi-hop + our synthetic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703320"/>
            <a:ext cx="1828800" cy="50292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8679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66.8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3703320"/>
            <a:ext cx="1965960" cy="50292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386791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71.0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377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B6356"/>
                </a:solidFill>
                <a:latin typeface="Calibri"/>
              </a:rPr>
              <a:t>Adding our synthetic data lifts both benchmarks by +8.1 / +4.7 points.
A scaled-and-filtered information source covers the long-tail of search
patterns that hand-crafted multi-hop data misses.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16  / 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07 ·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On-policy vs. off-policy GRPO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659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66751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Off-policy variant: each rollout batch (256) is split into 4 mini-batches
and consumed in 4 successive updates.
On-policy: each rollout batch is consumed in a single update and discarded.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6675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Off-policy gains reward earlier but eventually declines.
On-policy keeps improving — higher final GAIA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965960"/>
            <a:ext cx="3977639" cy="416052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48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GAIA VALIDATION ACCURACY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09560" y="2697480"/>
            <a:ext cx="3520440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09560" y="2880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6356"/>
                </a:solidFill>
                <a:latin typeface="Calibri"/>
              </a:rPr>
              <a:t>Off-policy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8803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6B6356"/>
                </a:solidFill>
                <a:latin typeface="Georgia"/>
              </a:rPr>
              <a:t>66.8 %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7490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7757"/>
                </a:solidFill>
                <a:latin typeface="Calibri"/>
              </a:rPr>
              <a:t>On-policy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7490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D97757"/>
                </a:solidFill>
                <a:latin typeface="Georgia"/>
              </a:rPr>
              <a:t>68.9 %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09560" y="4663440"/>
            <a:ext cx="3520440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909560" y="4846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6B6356"/>
                </a:solidFill>
                <a:latin typeface="Calibri"/>
              </a:rPr>
              <a:t>Multiple updates per batch  →  policy lag  →  trajectory mismatch  →  ceiling drops.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17  / 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07 ·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Effectiveness of multi-stage training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1_accuracy_sim2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65960"/>
            <a:ext cx="7772400" cy="42901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965960"/>
            <a:ext cx="3246120" cy="416052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2194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E9DE"/>
                </a:solidFill>
                <a:latin typeface="Calibri"/>
              </a:rPr>
              <a:t>GAIA · EMA-SMOOTHED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60" y="2697480"/>
            <a:ext cx="2926080" cy="0"/>
          </a:xfrm>
          <a:prstGeom prst="line">
            <a:avLst/>
          </a:prstGeom>
          <a:ln w="9525">
            <a:solidFill>
              <a:srgbClr val="FFC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95360" y="28803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E9DE"/>
                </a:solidFill>
                <a:latin typeface="Calibri"/>
              </a:rPr>
              <a:t>Stage 1 plateau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22783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64.7 %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749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FE9DE"/>
                </a:solidFill>
                <a:latin typeface="Calibri"/>
              </a:rPr>
              <a:t>at ~step 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2976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E9DE"/>
                </a:solidFill>
                <a:latin typeface="Calibri"/>
              </a:rPr>
              <a:t>Stage 2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64515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Georgia"/>
              </a:rPr>
              <a:t>68.3 %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166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FE9DE"/>
                </a:solidFill>
                <a:latin typeface="Calibri"/>
              </a:rPr>
              <a:t>+3.6 pts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0" y="5532120"/>
            <a:ext cx="2926080" cy="0"/>
          </a:xfrm>
          <a:prstGeom prst="line">
            <a:avLst/>
          </a:prstGeom>
          <a:ln w="9525">
            <a:solidFill>
              <a:srgbClr val="FFC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95360" y="56235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FFE9DE"/>
                </a:solidFill>
                <a:latin typeface="Calibri"/>
              </a:rPr>
              <a:t>Stage 2 lifts the plateau by
raising difficulty + context length.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18  / 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07 ·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Contribution of RL over SFT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SFT TEACHER  ·  TONGYI DEEPRESEARCH (30B)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3703320" cy="269748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6B6356"/>
                </a:solidFill>
                <a:latin typeface="Calibri"/>
              </a:rPr>
              <a:t>TEACHER (30B)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1F1F1F"/>
                </a:solidFill>
                <a:latin typeface="Georgia"/>
              </a:rPr>
              <a:t>70.9 %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356"/>
                </a:solidFill>
                <a:latin typeface="Calibri"/>
              </a:rPr>
              <a:t>where the teacher caps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606040"/>
            <a:ext cx="3703320" cy="269748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8803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6B6356"/>
                </a:solidFill>
                <a:latin typeface="Calibri"/>
              </a:rPr>
              <a:t>SFT ONLY (4B)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7472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1F1F1F"/>
                </a:solidFill>
                <a:latin typeface="Georgia"/>
              </a:rPr>
              <a:t>55.6 %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5720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356"/>
                </a:solidFill>
                <a:latin typeface="Calibri"/>
              </a:rPr>
              <a:t>−15.3 pts vs teacher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606040"/>
            <a:ext cx="3703320" cy="269748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8803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E9DE"/>
                </a:solidFill>
                <a:latin typeface="Calibri"/>
              </a:rPr>
              <a:t>+ RL  (4B, OURS)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47472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71.3 %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5720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FFE9DE"/>
                </a:solidFill>
                <a:latin typeface="Calibri"/>
              </a:rPr>
              <a:t>+15.7 pts over SFT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32120"/>
            <a:ext cx="11109960" cy="640080"/>
          </a:xfrm>
          <a:prstGeom prst="roundRect">
            <a:avLst>
              <a:gd name="adj" fmla="val 6000"/>
            </a:avLst>
          </a:prstGeom>
          <a:solidFill>
            <a:srgbClr val="EB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6692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1F1F1F"/>
                </a:solidFill>
                <a:latin typeface="Georgia"/>
              </a:rPr>
              <a:t>The primary performance driver is the RL framework — not teacher distillation.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19  / 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97757"/>
                </a:solidFill>
                <a:latin typeface="Calibri"/>
              </a:rPr>
              <a:t>APPENDIX  ·  BEHAVIOR ANALYSIS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0120"/>
            <a:ext cx="1097280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0" b="1" i="0">
                <a:solidFill>
                  <a:srgbClr val="D97757"/>
                </a:solidFill>
                <a:latin typeface="Georgia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228600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F1F1F"/>
                </a:solidFill>
                <a:latin typeface="Georgia"/>
              </a:rPr>
              <a:t>Why does the policy improve?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347472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 i="0">
                <a:solidFill>
                  <a:srgbClr val="6B6356"/>
                </a:solidFill>
                <a:latin typeface="Calibri"/>
              </a:rPr>
              <a:t>A behavior-level autopsy of 41 checkpoints across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 i="0">
                <a:solidFill>
                  <a:srgbClr val="6B6356"/>
                </a:solidFill>
                <a:latin typeface="Calibri"/>
              </a:rPr>
              <a:t>S1 (steps 0-220) → S2 (steps 0-570), spliced at step 220.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766560" y="4937760"/>
            <a:ext cx="4114800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766560" y="50749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356"/>
                </a:solidFill>
                <a:latin typeface="Calibri"/>
              </a:rPr>
              <a:t>30 metrics  ·  300 traj/step  ·  GAIA every 20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20  / 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APPENDIX ·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What changed about the model's behavior?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965960"/>
            <a:ext cx="5303520" cy="443484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46634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Calibri"/>
              </a:rPr>
              <a:t>The aggregate reward curve goes up — but what does the policy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 i="1">
                <a:solidFill>
                  <a:srgbClr val="1F1F1F"/>
                </a:solidFill>
                <a:latin typeface="Calibri"/>
              </a:rPr>
              <a:t>actually do differently at step 790 vs step 0?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i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6B6356"/>
                </a:solidFill>
                <a:latin typeface="Calibri"/>
              </a:rPr>
              <a:t>We log 30 per-trajectory behavior signals at every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6B6356"/>
                </a:solidFill>
                <a:latin typeface="Calibri"/>
              </a:rPr>
              <a:t>checkpoint, then look for monotone shifts that correlate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6B6356"/>
                </a:solidFill>
                <a:latin typeface="Calibri"/>
              </a:rPr>
              <a:t>with the GAIA accuracy gain.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i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1">
                <a:solidFill>
                  <a:srgbClr val="B85F44"/>
                </a:solidFill>
                <a:latin typeface="Calibri"/>
              </a:rPr>
              <a:t>Goal: isolate causal patterns from incidental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965960"/>
            <a:ext cx="5577840" cy="443484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ANALYSIS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43200"/>
            <a:ext cx="4937760" cy="475488"/>
          </a:xfrm>
          <a:prstGeom prst="roundRect">
            <a:avLst>
              <a:gd name="adj" fmla="val 6000"/>
            </a:avLst>
          </a:prstGeom>
          <a:solidFill>
            <a:srgbClr val="F5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83464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Checkpoints sampled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834640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41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18688"/>
            <a:ext cx="4937760" cy="475488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31012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Train rollouts per ckpt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310128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300 trajectories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694176"/>
            <a:ext cx="4937760" cy="475488"/>
          </a:xfrm>
          <a:prstGeom prst="roundRect">
            <a:avLst>
              <a:gd name="adj" fmla="val 6000"/>
            </a:avLst>
          </a:prstGeom>
          <a:solidFill>
            <a:srgbClr val="F5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78561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GAIA-eval rollouts per ckpt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785616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412 tasks  ×  pass@1, pass@4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169664"/>
            <a:ext cx="4937760" cy="475488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261104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Behavior metrics extracted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261104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30 per trajectory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645152"/>
            <a:ext cx="4937760" cy="475488"/>
          </a:xfrm>
          <a:prstGeom prst="roundRect">
            <a:avLst>
              <a:gd name="adj" fmla="val 6000"/>
            </a:avLst>
          </a:prstGeom>
          <a:solidFill>
            <a:srgbClr val="F5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73659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Splice 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736592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step 220 — S1 end → S2 start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120640"/>
            <a:ext cx="4937760" cy="475488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521208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Total trajectories analyzed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5212080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~ 24,000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21  / 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APPENDIX ·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What we measured at the outcome level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1_accuracy_sim2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19"/>
            <a:ext cx="804672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89720" y="1874519"/>
            <a:ext cx="2468880" cy="443484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72600" y="21031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2514600"/>
            <a:ext cx="2194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1F1F1F"/>
                </a:solidFill>
                <a:latin typeface="Calibri"/>
              </a:rPr>
              <a:t>Train reward and GAIA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1F1F1F"/>
                </a:solidFill>
                <a:latin typeface="Calibri"/>
              </a:rPr>
              <a:t>evaluation co-improve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1F1F1F"/>
                </a:solidFill>
                <a:latin typeface="Calibri"/>
              </a:rPr>
              <a:t>through both stages.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i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S1 saturates near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step 220 — S2 lifts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the plateau without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regression.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i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1">
                <a:solidFill>
                  <a:srgbClr val="B85F44"/>
                </a:solidFill>
                <a:latin typeface="Calibri"/>
              </a:rPr>
              <a:t>→ Sim2Real transfer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1">
                <a:solidFill>
                  <a:srgbClr val="B85F44"/>
                </a:solidFill>
                <a:latin typeface="Calibri"/>
              </a:rPr>
              <a:t>    is sustained.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22  / 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APPENDIX ·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Four mechanisms behind the gain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2_mechanis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863840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874519"/>
            <a:ext cx="3063240" cy="452628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2103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THE FOUR LEVERS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5146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97757"/>
                </a:solidFill>
                <a:latin typeface="Georgia"/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514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1F1F"/>
                </a:solidFill>
                <a:latin typeface="Calibri"/>
              </a:rPr>
              <a:t>Tool-choice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86207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6356"/>
                </a:solidFill>
                <a:latin typeface="Calibri"/>
              </a:rPr>
              <a:t>search → browse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10896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B85F44"/>
                </a:solidFill>
                <a:latin typeface="Consolas"/>
              </a:rPr>
              <a:t>0.46 → 0.76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47472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97757"/>
                </a:solidFill>
                <a:latin typeface="Georgia"/>
              </a:rPr>
              <a:t>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474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1F1F"/>
                </a:solidFill>
                <a:latin typeface="Calibri"/>
              </a:rPr>
              <a:t>Trajectory re-alloc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8221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6356"/>
                </a:solidFill>
                <a:latin typeface="Calibri"/>
              </a:rPr>
              <a:t>compress → expand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0690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B85F44"/>
                </a:solidFill>
                <a:latin typeface="Consolas"/>
              </a:rPr>
              <a:t>28 → 19 → 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43484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97757"/>
                </a:solidFill>
                <a:latin typeface="Georgia"/>
              </a:rPr>
              <a:t>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434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1F1F"/>
                </a:solidFill>
                <a:latin typeface="Calibri"/>
              </a:rPr>
              <a:t>Per-think depth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78231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6356"/>
                </a:solidFill>
                <a:latin typeface="Calibri"/>
              </a:rPr>
              <a:t>richer reasoning blocks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502920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B85F44"/>
                </a:solidFill>
                <a:latin typeface="Consolas"/>
              </a:rPr>
              <a:t>387 → 626 chars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53949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97757"/>
                </a:solidFill>
                <a:latin typeface="Georgia"/>
              </a:rPr>
              <a:t>M4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53949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1F1F"/>
                </a:solidFill>
                <a:latin typeface="Calibri"/>
              </a:rPr>
              <a:t>Self-correction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74243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6356"/>
                </a:solidFill>
                <a:latin typeface="Calibri"/>
              </a:rPr>
              <a:t>more hedge volume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98932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B85F44"/>
                </a:solidFill>
                <a:latin typeface="Consolas"/>
              </a:rPr>
              <a:t>1.5 → 5.0 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23  / 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M1 · TOOL-CHOICE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From keyword search to deep browse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74519"/>
            <a:ext cx="6949440" cy="44805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ne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03120"/>
            <a:ext cx="649224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874519"/>
            <a:ext cx="3977639" cy="44805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103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Consolas"/>
              </a:rPr>
              <a:t>browse / (search + browse)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697480"/>
            <a:ext cx="3429000" cy="50292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81635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356"/>
                </a:solidFill>
                <a:latin typeface="Consolas"/>
              </a:rPr>
              <a:t>step 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816352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1F1F"/>
                </a:solidFill>
                <a:latin typeface="Georgia"/>
              </a:rPr>
              <a:t>0.46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246120"/>
            <a:ext cx="3429000" cy="50292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336499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356"/>
                </a:solidFill>
                <a:latin typeface="Consolas"/>
              </a:rPr>
              <a:t>step 220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364992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1F1F"/>
                </a:solidFill>
                <a:latin typeface="Georgia"/>
              </a:rPr>
              <a:t>0.56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794760"/>
            <a:ext cx="3429000" cy="50292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391363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356"/>
                </a:solidFill>
                <a:latin typeface="Consolas"/>
              </a:rPr>
              <a:t>step 460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913632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1F1F"/>
                </a:solidFill>
                <a:latin typeface="Georgia"/>
              </a:rPr>
              <a:t>0.72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4343400"/>
            <a:ext cx="3429000" cy="502920"/>
          </a:xfrm>
          <a:prstGeom prst="roundRect">
            <a:avLst>
              <a:gd name="adj" fmla="val 6000"/>
            </a:avLst>
          </a:prstGeom>
          <a:solidFill>
            <a:srgbClr val="EB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446227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356"/>
                </a:solidFill>
                <a:latin typeface="Consolas"/>
              </a:rPr>
              <a:t>step 790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4462272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85F44"/>
                </a:solidFill>
                <a:latin typeface="Georgia"/>
              </a:rPr>
              <a:t>0.76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5074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57"/>
                </a:solidFill>
                <a:latin typeface="Calibri"/>
              </a:rPr>
              <a:t>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440680"/>
            <a:ext cx="3657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i="0">
                <a:solidFill>
                  <a:srgbClr val="1F1F1F"/>
                </a:solidFill>
                <a:latin typeface="Calibri"/>
              </a:rPr>
              <a:t>Policy stops treating search as the answer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i="0">
                <a:solidFill>
                  <a:srgbClr val="1F1F1F"/>
                </a:solidFill>
                <a:latin typeface="Calibri"/>
              </a:rPr>
              <a:t>and starts using it as a pointer toward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i="0">
                <a:solidFill>
                  <a:srgbClr val="1F1F1F"/>
                </a:solidFill>
                <a:latin typeface="Calibri"/>
              </a:rPr>
              <a:t>evidence — which it then opens and reads.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24  / 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M2 · TRAJECTORY RE-ALLOCATION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Compress, then expand into harder problems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74519"/>
            <a:ext cx="6949440" cy="44805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nel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03120"/>
            <a:ext cx="649224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874519"/>
            <a:ext cx="3977639" cy="44805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103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Consolas"/>
              </a:rPr>
              <a:t>agent turns / trajectory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B85F44"/>
                </a:solidFill>
                <a:latin typeface="Georgia"/>
              </a:rPr>
              <a:t>28  →  19  →  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200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356"/>
                </a:solidFill>
                <a:latin typeface="Calibri"/>
              </a:rPr>
              <a:t>S1 start  ·  S1 end  ·  S2 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79" y="3703320"/>
            <a:ext cx="3520440" cy="0"/>
          </a:xfrm>
          <a:prstGeom prst="line">
            <a:avLst/>
          </a:prstGeom>
          <a:ln w="12700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55279" y="3840480"/>
            <a:ext cx="36576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1F1F1F"/>
                </a:solidFill>
                <a:latin typeface="Calibri"/>
              </a:rPr>
              <a:t>Phase A · S1 (0→220)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Policy learns to compress —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fewer wasted turns per task.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 i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B85F44"/>
                </a:solidFill>
                <a:latin typeface="Calibri"/>
              </a:rPr>
              <a:t>Phase B · S2 (220→790)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Same policy meets harder tasks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and an enlarged 48k context — it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re-invests the budget for depth.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25  / 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M3 · PER-THINK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Each reasoning block carries more content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74519"/>
            <a:ext cx="6949440" cy="44805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nel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03120"/>
            <a:ext cx="649224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874519"/>
            <a:ext cx="3977639" cy="44805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103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Consolas"/>
              </a:rPr>
              <a:t>chars / &lt;think&gt;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6060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B85F44"/>
                </a:solidFill>
                <a:latin typeface="Georgia"/>
              </a:rPr>
              <a:t>387  →  626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356"/>
                </a:solidFill>
                <a:latin typeface="Calibri"/>
              </a:rPr>
              <a:t>≈ +62 % per reasoning block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79" y="3840480"/>
            <a:ext cx="3520440" cy="0"/>
          </a:xfrm>
          <a:prstGeom prst="line">
            <a:avLst/>
          </a:prstGeom>
          <a:ln w="12700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55279" y="397763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57"/>
                </a:solidFill>
                <a:latin typeface="Calibri"/>
              </a:rPr>
              <a:t>WHY DEPTH, NOT FREQUENCY?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343400"/>
            <a:ext cx="3657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Number of &lt;think&gt; blocks per turn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stays flat — what grows is the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content inside each block.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 i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1">
                <a:solidFill>
                  <a:srgbClr val="1F1F1F"/>
                </a:solidFill>
                <a:latin typeface="Calibri"/>
              </a:rPr>
              <a:t>The policy reasons more carefully,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1">
                <a:solidFill>
                  <a:srgbClr val="1F1F1F"/>
                </a:solidFill>
                <a:latin typeface="Calibri"/>
              </a:rPr>
              <a:t>not more often.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26  / 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M4 · SELF-CORRECTION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More hedging and verification moves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74519"/>
            <a:ext cx="6949440" cy="44805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nel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03120"/>
            <a:ext cx="649224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874519"/>
            <a:ext cx="3977639" cy="448056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103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Consolas"/>
              </a:rPr>
              <a:t>hedge tokens / trajectory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6060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B85F44"/>
                </a:solidFill>
                <a:latin typeface="Georgia"/>
              </a:rPr>
              <a:t>1.5  →  5.0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6356"/>
                </a:solidFill>
                <a:latin typeface="Calibri"/>
              </a:rPr>
              <a:t>"wait / verify / actually / let me check"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79" y="3840480"/>
            <a:ext cx="3520440" cy="0"/>
          </a:xfrm>
          <a:prstGeom prst="line">
            <a:avLst/>
          </a:prstGeom>
          <a:ln w="12700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55279" y="397763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57"/>
                </a:solidFill>
                <a:latin typeface="Calibri"/>
              </a:rPr>
              <a:t>HONEST FRAMING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343400"/>
            <a:ext cx="3657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Hedges per token barely changes —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the trajectory simply gets longer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6B6356"/>
                </a:solidFill>
                <a:latin typeface="Calibri"/>
              </a:rPr>
              <a:t>and contains more verification.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 i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1">
                <a:solidFill>
                  <a:srgbClr val="1F1F1F"/>
                </a:solidFill>
                <a:latin typeface="Calibri"/>
              </a:rPr>
              <a:t>Self-correction is a volume effect,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1">
                <a:solidFill>
                  <a:srgbClr val="1F1F1F"/>
                </a:solidFill>
                <a:latin typeface="Calibri"/>
              </a:rPr>
              <a:t>driven by the expanded budget.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27  / 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APPENDIX ·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Candidates we ruled out — for transparency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74519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RULED OUT BY THE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6949440" cy="50292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5059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Answer-length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450592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Confounded with task difficulty in S2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6949440" cy="502920"/>
          </a:xfrm>
          <a:prstGeom prst="roundRect">
            <a:avLst>
              <a:gd name="adj" fmla="val 6000"/>
            </a:avLst>
          </a:prstGeom>
          <a:solidFill>
            <a:srgbClr val="F5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5351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Tool calls per 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953512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Stable across both stages — no shift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37560"/>
            <a:ext cx="6949440" cy="50292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Think frequency per 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456432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Flat — the depth, not the count, grows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6949440" cy="502920"/>
          </a:xfrm>
          <a:prstGeom prst="roundRect">
            <a:avLst>
              <a:gd name="adj" fmla="val 6000"/>
            </a:avLst>
          </a:prstGeom>
          <a:solidFill>
            <a:srgbClr val="F5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935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Hedge density (per token)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959352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Almost unchanged — only volume grows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6949440" cy="50292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6227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Vocabulary diversity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462272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No monotone trend across checkpoints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6949440" cy="502920"/>
          </a:xfrm>
          <a:prstGeom prst="roundRect">
            <a:avLst>
              <a:gd name="adj" fmla="val 6000"/>
            </a:avLst>
          </a:prstGeom>
          <a:solidFill>
            <a:srgbClr val="F5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6519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Error/retry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965192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356"/>
                </a:solidFill>
                <a:latin typeface="Calibri"/>
              </a:rPr>
              <a:t>Drops in S1, rebounds in S2 — non-monotone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1874519"/>
            <a:ext cx="3977639" cy="452628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2103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CAUSAL CHAIN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2606040"/>
            <a:ext cx="3429000" cy="621792"/>
          </a:xfrm>
          <a:prstGeom prst="roundRect">
            <a:avLst>
              <a:gd name="adj" fmla="val 6000"/>
            </a:avLst>
          </a:prstGeom>
          <a:solidFill>
            <a:srgbClr val="F5F1ED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660904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97757"/>
                </a:solidFill>
                <a:latin typeface="Georgia"/>
              </a:rPr>
              <a:t>M1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5176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Tool-choice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89864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356"/>
                </a:solidFill>
                <a:latin typeface="Calibri"/>
              </a:rPr>
              <a:t>search → browse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3319272"/>
            <a:ext cx="3429000" cy="621792"/>
          </a:xfrm>
          <a:prstGeom prst="roundRect">
            <a:avLst>
              <a:gd name="adj" fmla="val 6000"/>
            </a:avLst>
          </a:prstGeom>
          <a:solidFill>
            <a:srgbClr val="F5F1ED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37413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97757"/>
                </a:solidFill>
                <a:latin typeface="Georgia"/>
              </a:rPr>
              <a:t>M2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364992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Re-allocation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61188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356"/>
                </a:solidFill>
                <a:latin typeface="Calibri"/>
              </a:rPr>
              <a:t>expand budget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4032504"/>
            <a:ext cx="3429000" cy="621792"/>
          </a:xfrm>
          <a:prstGeom prst="roundRect">
            <a:avLst>
              <a:gd name="adj" fmla="val 6000"/>
            </a:avLst>
          </a:prstGeom>
          <a:solidFill>
            <a:srgbClr val="F5F1ED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408736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97757"/>
                </a:solidFill>
                <a:latin typeface="Georgia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078224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More 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325112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356"/>
                </a:solidFill>
                <a:latin typeface="Calibri"/>
              </a:rPr>
              <a:t>per trajectory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79" y="4745736"/>
            <a:ext cx="3429000" cy="621792"/>
          </a:xfrm>
          <a:prstGeom prst="roundRect">
            <a:avLst>
              <a:gd name="adj" fmla="val 6000"/>
            </a:avLst>
          </a:prstGeom>
          <a:solidFill>
            <a:srgbClr val="F5F1ED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48006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97757"/>
                </a:solidFill>
                <a:latin typeface="Georgia"/>
              </a:rPr>
              <a:t>M3+M4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791456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F1F"/>
                </a:solidFill>
                <a:latin typeface="Calibri"/>
              </a:rPr>
              <a:t>Deeper reason &amp;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038344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356"/>
                </a:solidFill>
                <a:latin typeface="Calibri"/>
              </a:rPr>
              <a:t>self-correction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79" y="5458968"/>
            <a:ext cx="3429000" cy="621792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40" y="551383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550468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GAIA +9 pts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751576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FE9DE"/>
                </a:solidFill>
                <a:latin typeface="Calibri"/>
              </a:rPr>
              <a:t>(60 → 69)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28  / 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92608" cy="640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09 ·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F1F1F"/>
                </a:solidFill>
                <a:latin typeface="Georgia"/>
              </a:rPr>
              <a:t>Three things to remember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9525">
            <a:solidFill>
              <a:srgbClr val="E8E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920240"/>
            <a:ext cx="91440" cy="128016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D97757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965960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1F1F"/>
                </a:solidFill>
                <a:latin typeface="Georgia"/>
              </a:rPr>
              <a:t>Local environments are enough.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514600"/>
            <a:ext cx="9418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A 32 M-page Wikipedia mirror + a lightweight browse tool replaces $59 K-$243 K of commercial APIs, gives 10×/46× speed-ups, and unlocks the trajectory volume needed for on-policy RL at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91440" cy="128016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D97757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383280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1F1F"/>
                </a:solidFill>
                <a:latin typeface="Georgia"/>
              </a:rPr>
              <a:t>Simple-but-scalable beats clever-but-fragile.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931920"/>
            <a:ext cx="9418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Atomic-capability synthesis, on-policy GRPO, and a 2-stage curriculum — each individually familiar — combine to lift a 4 B model past 30 B teachers and most commercial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91440" cy="1280160"/>
          </a:xfrm>
          <a:prstGeom prst="roundRect">
            <a:avLst>
              <a:gd name="adj" fmla="val 6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5488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D97757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800600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1F1F"/>
                </a:solidFill>
                <a:latin typeface="Georgia"/>
              </a:rPr>
              <a:t>The gain has a behavioral signature.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349240"/>
            <a:ext cx="9418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356"/>
                </a:solidFill>
                <a:latin typeface="Calibri"/>
              </a:rPr>
              <a:t>Two structural mechanisms (tool-choice shift, trajectory re-allocation) act first; depth and self-correction emerge as their downstream effect. Sim2Real is sustained because the behavior, not just the score, transfers.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LiteResearcher ·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356"/>
                </a:solidFill>
                <a:latin typeface="Calibri"/>
              </a:rPr>
              <a:t>29  / 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11099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0" b="1" i="0">
                <a:solidFill>
                  <a:srgbClr val="1F1F1F"/>
                </a:solidFill>
                <a:latin typeface="Georg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20440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6B6356"/>
                </a:solidFill>
                <a:latin typeface="Calibri"/>
              </a:rPr>
              <a:t>Questions &amp; discussion welcome.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0" y="4251960"/>
            <a:ext cx="2103120" cy="0"/>
          </a:xfrm>
          <a:prstGeom prst="line">
            <a:avLst/>
          </a:prstGeom>
          <a:ln w="3175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2307" y="4572000"/>
            <a:ext cx="3520440" cy="109728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6627" y="4773168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6627" y="512064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onsolas"/>
              </a:rPr>
              <a:t>arXiv : 2604.17931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5627" y="4572000"/>
            <a:ext cx="3520440" cy="109728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9947" y="4773168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9947" y="512064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onsolas"/>
              </a:rPr>
              <a:t>github.com/wanli/LiteResearcher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8947" y="4572000"/>
            <a:ext cx="3520440" cy="109728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 w="9525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3267" y="4773168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3267" y="512064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F1F1F"/>
                </a:solidFill>
                <a:latin typeface="Consolas"/>
              </a:rPr>
              <a:t>hf.co/litereresearcher-4b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80760"/>
            <a:ext cx="11109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356"/>
                </a:solidFill>
                <a:latin typeface="Calibri"/>
              </a:rPr>
              <a:t>Wanli Lee  ·  with thanks to all co-authors and reviewers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